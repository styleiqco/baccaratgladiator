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  <a:latin typeface="Georgia"/>
              </a:rPr>
              <a:t>♠  BACCARAT GLADIATOR  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Play · Learn · Master · Profit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51760"/>
            <a:ext cx="8531352" cy="96012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72491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0E6C8"/>
                </a:solidFill>
                <a:latin typeface="Georgia"/>
              </a:rPr>
              <a:t>A premium digital product business built on the world's most elegant casino game.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31920"/>
            <a:ext cx="265176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931920"/>
            <a:ext cx="26517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776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PLAY  —  Browser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931920"/>
            <a:ext cx="265176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931920"/>
            <a:ext cx="26517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9776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26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LEARN  —  Tutorial 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931920"/>
            <a:ext cx="265176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931920"/>
            <a:ext cx="26517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9776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5262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SELL  —  Digital Bundle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355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Pitch Deck  |  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92608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Baccarat Is the World's Fastest-Growing Casino Game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08760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237744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2377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$15B+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Annual Baccarat
revenue in Macau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828800"/>
            <a:ext cx="237744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828800"/>
            <a:ext cx="2377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9933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633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Of Macau casino
revenue from Baccarat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828800"/>
            <a:ext cx="237744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1828800"/>
            <a:ext cx="2377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9933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40M+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33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Online searches:
"how to play baccarat"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2377440" cy="12801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2377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9933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1.06%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633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House edge on
Banker bet — lowest in casino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383280"/>
            <a:ext cx="11338560" cy="1371600"/>
          </a:xfrm>
          <a:prstGeom prst="rect">
            <a:avLst/>
          </a:prstGeom>
          <a:solidFill>
            <a:srgbClr val="1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38328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56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The Gap in the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404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0E6C8"/>
                </a:solidFill>
                <a:latin typeface="Calibri"/>
              </a:rPr>
              <a:t>Most players want to learn Baccarat but have no quality resource — only outdated PDFs or paywalled casino sites.</a:t>
            </a:r>
          </a:p>
          <a:p>
            <a:pPr algn="l"/>
            <a:r>
              <a:rPr sz="1350" b="0">
                <a:solidFill>
                  <a:srgbClr val="F0E6C8"/>
                </a:solidFill>
                <a:latin typeface="Calibri"/>
              </a:rPr>
              <a:t>Baccarat Gladiator fills this gap: a polished, playable app paired with a professional tutorial, sold as a single digital bundle.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2  |  Baccarat Gladiator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28600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Two Products. One Unbeatable Bundle.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303520" cy="44805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30352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🎲  BACCARAT GLADIATOR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5915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Full rules engine — Third Card Rules automatic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5 chip sizes · Banker / Player / Tie betting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Bead Road result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4845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Score counter across all 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7822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In-app Tutorial + Strategy tabs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0799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Works in any browser — no download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Mobile-responsive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00200"/>
            <a:ext cx="5760720" cy="44805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600200"/>
            <a:ext cx="576072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783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📖  TUTORIAL &amp; STRATEGY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5915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15+ chapters — rules to advanced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78892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Third Card Rule tables (printer-friendly)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21868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All betting systems compared (Martingale, Paroli, 1-3-2-4…)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4845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Bankroll management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07822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Real casino tips &amp; etiquette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50799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Bead Road reading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9377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✓  Full glossary of Baccarat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3  |  Baccarat Gladiator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56032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Simple, Scalable, Low-Overhead Digital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2606040" cy="2926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26060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$9.99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101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App + Quick-Start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40480"/>
            <a:ext cx="20574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9136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BBBB"/>
                </a:solidFill>
                <a:latin typeface="Calibri"/>
              </a:rPr>
              <a:t>Casual buyers &amp; gifts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45920"/>
            <a:ext cx="2606040" cy="292608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645920"/>
            <a:ext cx="26060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260604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66420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4"/>
                </a:solidFill>
                <a:latin typeface="Calibri"/>
              </a:rPr>
              <a:t>★  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2128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633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$19.99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101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App + Full Tutorial 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840480"/>
            <a:ext cx="20574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9136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BBBB"/>
                </a:solidFill>
                <a:latin typeface="Calibri"/>
              </a:rPr>
              <a:t>Primary product — bestseller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645920"/>
            <a:ext cx="2606040" cy="2926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645920"/>
            <a:ext cx="26060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2128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633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$29.99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3101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All above + Strategy Workbook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840480"/>
            <a:ext cx="20574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9136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BBBB"/>
                </a:solidFill>
                <a:latin typeface="Calibri"/>
              </a:rPr>
              <a:t>High-value customers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59" y="1645920"/>
            <a:ext cx="2606040" cy="2926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59" y="1645920"/>
            <a:ext cx="26060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59" y="22128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LICENSE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2633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$199+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33101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White-label app + resell rights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840480"/>
            <a:ext cx="20574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59" y="39136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BBBB"/>
                </a:solidFill>
                <a:latin typeface="Calibri"/>
              </a:rPr>
              <a:t>B2B &amp; affiliates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846320"/>
            <a:ext cx="11338560" cy="1463040"/>
          </a:xfrm>
          <a:prstGeom prst="rect">
            <a:avLst/>
          </a:prstGeom>
          <a:solidFill>
            <a:srgbClr val="1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846320"/>
            <a:ext cx="91440" cy="1463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Georgia"/>
              </a:rPr>
              <a:t>Revenue Streams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321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→  Direct sales (Gumroad / own site)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412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→  Affiliate commissions — 30-40% per sale to partners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→  B2B white-label licensing to casinos &amp; gaming lounges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801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→  Future: video course upsell, mobile app IAP, subscription strategy newsletter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4  |  Baccarat Gladiator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56032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TARGET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Four Ready-to-Buy Audiences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486400" cy="2057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54864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5623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74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Casino Beginners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D080"/>
                </a:solidFill>
                <a:latin typeface="Calibri"/>
              </a:rPr>
              <a:t>Age: 25–45   |   Avg spend: $9.99–$19.99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157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Learn before their first casino visit. Motivated by confidence &amp; fun.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00" cy="2057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4864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74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Strategy Enthusiasts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D080"/>
                </a:solidFill>
                <a:latin typeface="Calibri"/>
              </a:rPr>
              <a:t>Age: 30–55   |   Avg spend: $19.99–$29.99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157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Seek edge. Buy courses, books, systems. High lifetime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23360"/>
            <a:ext cx="5486400" cy="2057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23360"/>
            <a:ext cx="54864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Casino Night Hosts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D080"/>
                </a:solidFill>
                <a:latin typeface="Calibri"/>
              </a:rPr>
              <a:t>Age: 30–60   |   Avg spend: $19.99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47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Host Baccarat nights at home. Buy for their group.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23360"/>
            <a:ext cx="5486400" cy="2057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23360"/>
            <a:ext cx="54864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8795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206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Online Casino Players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D080"/>
                </a:solidFill>
                <a:latin typeface="Calibri"/>
              </a:rPr>
              <a:t>Age: 21–40   |   Avg spend: $9.99–$19.99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47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E6C8"/>
                </a:solidFill>
                <a:latin typeface="Calibri"/>
              </a:rPr>
              <a:t>Practice before wagering real money online.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5  |  Baccarat Gladiator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01752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MARKETING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Multi-Channel, Low-Cost, High-Return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📱  TikTok / 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500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Short-form casino tips. Viral potential. Free. Post 4-5x/week.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69164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🎥  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3500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Tutorial walkthroughs &amp; strategy breakdowns. SEO goldmine.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9164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📧  Email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3500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Free cheat sheet lead magnet → nurture sequence → sales.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3192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🔍  SEO / Blog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5902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Target: "how to play baccarat" (40k/mo searches). Own the 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93192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🤝  Affiliates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5902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30-40% commission. Zero upfront cost. Gambling influencers.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931920"/>
            <a:ext cx="3520440" cy="1920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931920"/>
            <a:ext cx="35204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💰  Paid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5902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Meta + Google retargeting. Layer on Month 2+ once organic 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6  |  Baccarat Gladiator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01752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90-DAY LAUNCH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From Zero to Launch in 12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029968"/>
            <a:ext cx="1133856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956816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210312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21031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50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D080"/>
                </a:solidFill>
                <a:latin typeface="Calibri"/>
              </a:rPr>
              <a:t>Phase 1
Wks 1-2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547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Set up store (Gumroad)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4050791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Create social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4553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Build landing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50566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Create lead magnet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956816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2286000"/>
            <a:ext cx="210312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2286000"/>
            <a:ext cx="21031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450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SEED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D080"/>
                </a:solidFill>
                <a:latin typeface="Calibri"/>
              </a:rPr>
              <a:t>Phase 2
Wks 3-4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547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Soft launch to email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4050791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Daily TikTok posts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4553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Affiliate outreach (5 targets)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50566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First $50 test 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956816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2286000"/>
            <a:ext cx="2103120" cy="411480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2286000"/>
            <a:ext cx="21031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450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D080"/>
                </a:solidFill>
                <a:latin typeface="Calibri"/>
              </a:rPr>
              <a:t>Phase 3
Wks 5-6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3208" y="3547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Official bundle launch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8" y="4050791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Email launch 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4553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First YouTube tutorial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50566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Scale paid 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956816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2286000"/>
            <a:ext cx="210312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2286000"/>
            <a:ext cx="21031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2450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GROW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D080"/>
                </a:solidFill>
                <a:latin typeface="Calibri"/>
              </a:rPr>
              <a:t>Phase 4
Wks 7-10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9208" y="3547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Scale winning 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9208" y="4050791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2nd YouTube video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9208" y="4553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Collect testimonials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50566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Push affiliate program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78440" y="1956816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55480" y="2286000"/>
            <a:ext cx="2103120" cy="41148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55480" y="2286000"/>
            <a:ext cx="21031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2450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Georgia"/>
              </a:rPr>
              <a:t>OPTIMIZE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D080"/>
                </a:solidFill>
                <a:latin typeface="Calibri"/>
              </a:rPr>
              <a:t>Phase 5
Wks 11-12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7" y="35478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Analyze all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7" y="4050791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A/B test pricing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5207" y="4553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Launch Pro Bundle upsell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5207" y="50566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6C8"/>
                </a:solidFill>
                <a:latin typeface="Calibri"/>
              </a:rPr>
              <a:t>▸  Plan Month 4 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7  |  Baccarat Gladiator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29184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Path to $50K+ Annual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754880"/>
            <a:ext cx="1417320" cy="1828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4754880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7083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25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4492064"/>
            <a:ext cx="1417320" cy="445695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4492064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1080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$1,499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75 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046071"/>
            <a:ext cx="1417320" cy="89168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4046071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66202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$2,999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150 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630405"/>
            <a:ext cx="1417320" cy="130735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630405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24635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$4,397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220 sales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3154680"/>
            <a:ext cx="1417320" cy="1783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3154680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77063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$5,997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300 sales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2560320"/>
            <a:ext cx="1417320" cy="23774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8360" y="2560320"/>
            <a:ext cx="1417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1762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D080"/>
                </a:solidFill>
                <a:latin typeface="Calibri"/>
              </a:rPr>
              <a:t>$7,996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5010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5340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400 sales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1572768"/>
            <a:ext cx="2743200" cy="1188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1572768"/>
            <a:ext cx="27432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1737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~$23K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Projected 6-month
gross revenue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1572768"/>
            <a:ext cx="2743200" cy="1188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7560" y="1572768"/>
            <a:ext cx="27432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1737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~$2K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Total 6-month
marketing spend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572768"/>
            <a:ext cx="2743200" cy="1188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1572768"/>
            <a:ext cx="27432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1737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&gt;90%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Gross margin
(digital product)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1572768"/>
            <a:ext cx="2606040" cy="1188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9720" y="1572768"/>
            <a:ext cx="260604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1737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D080"/>
                </a:solidFill>
                <a:latin typeface="Georgia"/>
              </a:rPr>
              <a:t>$50K+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2377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6C8"/>
                </a:solidFill>
                <a:latin typeface="Calibri"/>
              </a:rPr>
              <a:t>Year-1 revenue
potential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3550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BBBBB"/>
                </a:solidFill>
                <a:latin typeface="Calibri"/>
              </a:rPr>
              <a:t>* Conservative projections. One viral video can 10x these figures overnight.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8  |  Baccarat Gladiator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19456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WHY WE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Competitive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2880360" cy="457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719072"/>
            <a:ext cx="1965960" cy="45720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7556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Baccarat Gladiator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719072"/>
            <a:ext cx="1965960" cy="45720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59" y="17556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BBBB"/>
                </a:solidFill>
                <a:latin typeface="Calibri"/>
              </a:rPr>
              <a:t>Casino Websites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719072"/>
            <a:ext cx="1965960" cy="45720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7556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BBBB"/>
                </a:solidFill>
                <a:latin typeface="Calibri"/>
              </a:rPr>
              <a:t>YouTube Tutorials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1719072"/>
            <a:ext cx="1965960" cy="45720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7556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BBBB"/>
                </a:solidFill>
                <a:latin typeface="Calibri"/>
              </a:rPr>
              <a:t>Generic eBooks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31136"/>
            <a:ext cx="28803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58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Free playable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23113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258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23113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59" y="2258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223113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258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360" y="223113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258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34056"/>
            <a:ext cx="2880360" cy="466344"/>
          </a:xfrm>
          <a:prstGeom prst="rect">
            <a:avLst/>
          </a:prstGeom>
          <a:solidFill>
            <a:srgbClr val="143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614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Correct Third Card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73405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761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273405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59" y="2761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✅ 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273405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2761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Varies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273405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2761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Varies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236976"/>
            <a:ext cx="28803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2644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Professional tutorial guide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323697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2644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323697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59" y="32644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323697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32644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60" y="323697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32644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Low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9896"/>
            <a:ext cx="2880360" cy="466344"/>
          </a:xfrm>
          <a:prstGeom prst="rect">
            <a:avLst/>
          </a:prstGeom>
          <a:solidFill>
            <a:srgbClr val="143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767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App + guide bundle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0" y="373989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044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32120" y="373989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59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5240" y="373989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26679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38360" y="373989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980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242816"/>
            <a:ext cx="28803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270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Instant digital delivery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29000" y="424281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40" y="4270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424281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59" y="4270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35240" y="424281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79" y="4270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38360" y="424281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29800" y="4270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✅ Yes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745736"/>
            <a:ext cx="2880360" cy="466344"/>
          </a:xfrm>
          <a:prstGeom prst="rect">
            <a:avLst/>
          </a:prstGeom>
          <a:solidFill>
            <a:srgbClr val="143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773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Affordable ($9-$30)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74573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20440" y="4773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32120" y="474573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23559" y="4773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Free/Paid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474573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26679" y="4773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✅ Free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38360" y="4745736"/>
            <a:ext cx="1965960" cy="46634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29800" y="4773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Varies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5248656"/>
            <a:ext cx="28803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52760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E6C8"/>
                </a:solidFill>
                <a:latin typeface="Calibri"/>
              </a:rPr>
              <a:t>No casino bias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29000" y="5248656"/>
            <a:ext cx="1965960" cy="466344"/>
          </a:xfrm>
          <a:prstGeom prst="rect">
            <a:avLst/>
          </a:prstGeom>
          <a:solidFill>
            <a:srgbClr val="1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20440" y="5276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0D080"/>
                </a:solidFill>
                <a:latin typeface="Calibri"/>
              </a:rPr>
              <a:t>✅ 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32120" y="524865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23559" y="5276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❌ 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35240" y="524865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26679" y="5276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⚠️ Varies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38360" y="5248656"/>
            <a:ext cx="1965960" cy="46634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29800" y="5276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BBBB"/>
                </a:solidFill>
                <a:latin typeface="Calibri"/>
              </a:rPr>
              <a:t>✅ Yes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9  |  Baccarat Gladiator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237744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377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Everything Built &amp; Ready to Sell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89888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11338560" cy="107899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109728" cy="10789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01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Georgia"/>
              </a:rPr>
              <a:t>baccarat-game.html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2199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Fully playable browser-based Baccarat app with complete rules engine, chip betting, Bead Road tracker, Tutorial tab &amp; Strategy tab.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35640" y="1965960"/>
            <a:ext cx="658368" cy="50292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63072" y="200253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11338560" cy="107899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907792"/>
            <a:ext cx="109728" cy="10789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90672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Georgia"/>
              </a:rPr>
              <a:t>Tutorial Guide (.docx)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38144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15-chapter professional Word document: rules, card values, Third Card Rules, all betting systems, bankroll management, casino tips, glossary.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35640" y="3182112"/>
            <a:ext cx="658368" cy="50292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63072" y="32186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23944"/>
            <a:ext cx="11338560" cy="107899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123944"/>
            <a:ext cx="109728" cy="10789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06824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233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Georgia"/>
              </a:rPr>
              <a:t>Marketing Campaign Plan (.docx)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54296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90-day launch roadmap with channel strategy, ad copy, email scripts, SEO keywords, pricing tiers, and revenue projections.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35640" y="4398264"/>
            <a:ext cx="658368" cy="50292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63072" y="44348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340096"/>
            <a:ext cx="11338560" cy="107899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340096"/>
            <a:ext cx="109728" cy="10789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52297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4498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Georgia"/>
              </a:rPr>
              <a:t>Business Pitch Deck (.pptx)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870448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6C8"/>
                </a:solidFill>
                <a:latin typeface="Calibri"/>
              </a:rPr>
              <a:t>This presentation — 10 slides covering opportunity, product, model, market, strategy, roadmap, financials &amp; competitive analysis.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35640" y="5614416"/>
            <a:ext cx="658368" cy="502920"/>
          </a:xfrm>
          <a:prstGeom prst="rect">
            <a:avLst/>
          </a:prstGeom>
          <a:solidFill>
            <a:srgbClr val="227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63072" y="565099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10  |  Baccarat Gladiator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71216"/>
            <a:ext cx="12188952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♠  READY TO LAUNCH  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Georgia"/>
              </a:rPr>
              <a:t>The product is built. The market is ready. The only step left is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3337560" cy="1143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33375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4107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79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6C8"/>
                </a:solidFill>
                <a:latin typeface="Calibri"/>
              </a:rPr>
              <a:t>Upload bundle to Gumroad or Lemon Squeezy — live in 15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246120"/>
            <a:ext cx="3337560" cy="1143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246120"/>
            <a:ext cx="33375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34107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383279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6C8"/>
                </a:solidFill>
                <a:latin typeface="Calibri"/>
              </a:rPr>
              <a:t>Create TikTok / Instagram accounts — post your first video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246120"/>
            <a:ext cx="3337560" cy="1143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246120"/>
            <a:ext cx="33375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34107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83279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6C8"/>
                </a:solidFill>
                <a:latin typeface="Calibri"/>
              </a:rPr>
              <a:t>Set up free email list (Mailchimp) — begin collecting subscribers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17720"/>
            <a:ext cx="3337560" cy="1143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617720"/>
            <a:ext cx="33375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7823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548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6C8"/>
                </a:solidFill>
                <a:latin typeface="Calibri"/>
              </a:rPr>
              <a:t>Reach out to 5 gambling affiliate partners this 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4617720"/>
            <a:ext cx="3337560" cy="1143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4617720"/>
            <a:ext cx="33375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47823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7548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E6C8"/>
                </a:solidFill>
                <a:latin typeface="Calibri"/>
              </a:rPr>
              <a:t>Track sales weekly — scale what works, cut what doesn't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BBBB"/>
                </a:solidFill>
                <a:latin typeface="Calibri"/>
              </a:rPr>
              <a:t>© 2026 Baccarat Gladiator  |  All Rights Reserved  |  For Entertainment &amp; Educational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